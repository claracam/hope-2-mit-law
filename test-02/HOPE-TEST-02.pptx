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6ea12312cd4b9f" /><Relationship Type="http://schemas.openxmlformats.org/officeDocument/2006/relationships/extended-properties" Target="/docProps/app.xml" Id="Ra3f06774efaa4506" /><Relationship Type="http://schemas.openxmlformats.org/officeDocument/2006/relationships/officeDocument" Target="/ppt/presentation.xml" Id="Rb4a4ab6cffc945c4" /></Relationships>
</file>

<file path=ppt/presentation.xml><?xml version="1.0" encoding="utf-8"?>
<p:presentation xmlns:p="http://schemas.openxmlformats.org/presentationml/2006/main">
  <p:sldMasterIdLst>
    <p:sldMasterId xmlns:r="http://schemas.openxmlformats.org/officeDocument/2006/relationships" id="2147483648" r:id="R3c2bcda241d14933"/>
  </p:sldMasterIdLst>
  <p:notesMasterIdLst>
    <p:notesMasterId xmlns:r="http://schemas.openxmlformats.org/officeDocument/2006/relationships" r:id="Rc014a7bb76214d07"/>
  </p:notesMasterIdLst>
  <p:sldIdLst>
    <p:sldId xmlns:r="http://schemas.openxmlformats.org/officeDocument/2006/relationships" id="256" r:id="R325db241146349a8"/>
    <p:sldId xmlns:r="http://schemas.openxmlformats.org/officeDocument/2006/relationships" id="257" r:id="R0374d427ced546a1"/>
    <p:sldId xmlns:r="http://schemas.openxmlformats.org/officeDocument/2006/relationships" id="258" r:id="R2127617796f740d2"/>
    <p:sldId xmlns:r="http://schemas.openxmlformats.org/officeDocument/2006/relationships" id="259" r:id="Re3efa0ec56124029"/>
    <p:sldId xmlns:r="http://schemas.openxmlformats.org/officeDocument/2006/relationships" id="260" r:id="Rc6a75a483aeb40b1"/>
    <p:sldId xmlns:r="http://schemas.openxmlformats.org/officeDocument/2006/relationships" id="261" r:id="Rd200389787794db3"/>
    <p:sldId xmlns:r="http://schemas.openxmlformats.org/officeDocument/2006/relationships" id="262" r:id="R4e0e970aa339486f"/>
    <p:sldId xmlns:r="http://schemas.openxmlformats.org/officeDocument/2006/relationships" id="263" r:id="R905013498c134c4f"/>
    <p:sldId xmlns:r="http://schemas.openxmlformats.org/officeDocument/2006/relationships" id="264" r:id="R49420700233641ba"/>
    <p:sldId xmlns:r="http://schemas.openxmlformats.org/officeDocument/2006/relationships" id="265" r:id="R2c65d74cd0b445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023cf659b34cff" /><Relationship Type="http://schemas.openxmlformats.org/officeDocument/2006/relationships/slideMaster" Target="/ppt/slideMasters/slideMaster1.xml" Id="R3c2bcda241d14933" /><Relationship Type="http://schemas.openxmlformats.org/officeDocument/2006/relationships/notesMaster" Target="/ppt/notesMasters/notesMaster1.xml" Id="Rc014a7bb76214d07" /><Relationship Type="http://schemas.openxmlformats.org/officeDocument/2006/relationships/presProps" Target="/ppt/presProps.xml" Id="R72956bf50e9d4d04" /><Relationship Type="http://schemas.openxmlformats.org/officeDocument/2006/relationships/tableStyles" Target="/ppt/tableStyles.xml" Id="Rdf3abf22d1344563" /><Relationship Type="http://schemas.openxmlformats.org/officeDocument/2006/relationships/slide" Target="/ppt/slides/slide1.xml" Id="R325db241146349a8" /><Relationship Type="http://schemas.openxmlformats.org/officeDocument/2006/relationships/slide" Target="/ppt/slides/slide2.xml" Id="R0374d427ced546a1" /><Relationship Type="http://schemas.openxmlformats.org/officeDocument/2006/relationships/slide" Target="/ppt/slides/slide3.xml" Id="R2127617796f740d2" /><Relationship Type="http://schemas.openxmlformats.org/officeDocument/2006/relationships/slide" Target="/ppt/slides/slide4.xml" Id="Re3efa0ec56124029" /><Relationship Type="http://schemas.openxmlformats.org/officeDocument/2006/relationships/slide" Target="/ppt/slides/slide5.xml" Id="Rc6a75a483aeb40b1" /><Relationship Type="http://schemas.openxmlformats.org/officeDocument/2006/relationships/slide" Target="/ppt/slides/slide6.xml" Id="Rd200389787794db3" /><Relationship Type="http://schemas.openxmlformats.org/officeDocument/2006/relationships/slide" Target="/ppt/slides/slide7.xml" Id="R4e0e970aa339486f" /><Relationship Type="http://schemas.openxmlformats.org/officeDocument/2006/relationships/slide" Target="/ppt/slides/slide8.xml" Id="R905013498c134c4f" /><Relationship Type="http://schemas.openxmlformats.org/officeDocument/2006/relationships/slide" Target="/ppt/slides/slide9.xml" Id="R49420700233641ba" /><Relationship Type="http://schemas.openxmlformats.org/officeDocument/2006/relationships/slide" Target="/ppt/slides/slide10.xml" Id="R2c65d74cd0b445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117be4474c44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9ac9842d4c4c16" /><Relationship Type="http://schemas.openxmlformats.org/officeDocument/2006/relationships/notesMaster" Target="/ppt/notesMasters/notesMaster1.xml" Id="R34896aa3772943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3065bb6b4741cc" /><Relationship Type="http://schemas.openxmlformats.org/officeDocument/2006/relationships/notesMaster" Target="/ppt/notesMasters/notesMaster1.xml" Id="Rcdaa28fe130c47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7e5eaad6724913" /><Relationship Type="http://schemas.openxmlformats.org/officeDocument/2006/relationships/notesMaster" Target="/ppt/notesMasters/notesMaster1.xml" Id="Rd9790342eec340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b5a065c7144bbd" /><Relationship Type="http://schemas.openxmlformats.org/officeDocument/2006/relationships/notesMaster" Target="/ppt/notesMasters/notesMaster1.xml" Id="Rf791095e2d3f46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cc985d52dc4cb8" /><Relationship Type="http://schemas.openxmlformats.org/officeDocument/2006/relationships/notesMaster" Target="/ppt/notesMasters/notesMaster1.xml" Id="Rb71b9111c4d44d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c37195aac4495" /><Relationship Type="http://schemas.openxmlformats.org/officeDocument/2006/relationships/notesMaster" Target="/ppt/notesMasters/notesMaster1.xml" Id="R9d681398df1741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778ebdef4e467a" /><Relationship Type="http://schemas.openxmlformats.org/officeDocument/2006/relationships/notesMaster" Target="/ppt/notesMasters/notesMaster1.xml" Id="R86e6ed83f8e843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88e10bb28348df" /><Relationship Type="http://schemas.openxmlformats.org/officeDocument/2006/relationships/notesMaster" Target="/ppt/notesMasters/notesMaster1.xml" Id="Rb171aa998a654c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1ceda8c0f94ff5" /><Relationship Type="http://schemas.openxmlformats.org/officeDocument/2006/relationships/notesMaster" Target="/ppt/notesMasters/notesMaster1.xml" Id="R824e67d03aab42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f86dc02f1f4551" /><Relationship Type="http://schemas.openxmlformats.org/officeDocument/2006/relationships/notesMaster" Target="/ppt/notesMasters/notesMaster1.xml" Id="R633663d4291b4c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Explain that this is the second experimental test and failures are useful feedback. Personally facilitated by Dazza Greenwood. Give everyone the prompt sheet before starting.</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is N1 then N2. L1 can replace N2 for already-connected users. L2 is take-home. Setup hard stop at 15 minutes applies to individual troubleshooting. Protect 12:45.</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prompt S. Never claim ten minutes is guaranteed. Participants retain control of browser sign-in. Do not show tokens on screen. Do not buy plans. Desktop/CLI connections may differ. Existing access needs a successful tool call, not merely an installed connector.</a:t>
            </a:r>
          </a:p>
          <a:p xmlns:a="http://schemas.openxmlformats.org/drawingml/2006/main">
            <a:r>
              <a:t/>
            </a:r>
          </a:p>
          <a:p xmlns:a="http://schemas.openxmlformats.org/drawingml/2006/main">
            <a:r>
              <a:t>[Sources]</a:t>
            </a:r>
          </a:p>
          <a:p xmlns:a="http://schemas.openxmlformats.org/drawingml/2006/main">
            <a:r>
              <a:t>https://descrybe.com/user-guide/claude-code</a:t>
            </a:r>
          </a:p>
          <a:p xmlns:a="http://schemas.openxmlformats.org/drawingml/2006/main">
            <a:r>
              <a:t>https://descrybe.com/user-guide/open-connector</a:t>
            </a:r>
          </a:p>
          <a:p xmlns:a="http://schemas.openxmlformats.org/drawingml/2006/main">
            <a:r>
              <a:t>https://github.com/descrybe-com/descrybe-legal-engine-python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prompt N1. Fictional event facts are in the prompt. Plan gate must occur before drafting. Human checks timing and usefulness. Expected segment start times: 2:00, 2:03, 2:10, 2:22, 2:27. End 2:30.</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prompt N2, not the facilitator answer key. The flawed draft is synthetic and must never be sent. Its source facts are authoritative only for this exercise. Distinct defect categories: mandatory, 45 minutes, paid, install promise, client material, recording, certificate, invented RSVP contact.</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STATUS during a running exercise. Extra-credit fresh reviewer requires already-working tools, human permission, fresh context, exact packet, read-only review, timeout, and an honestly captured report. Do not install a quartet live.</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a:p xmlns:a="http://schemas.openxmlformats.org/drawingml/2006/main">
            <a:r>
              <a:t>https://github.com/dazzaji/interlateral_agents/blob/main/.agents/skills/ready-rock-quartet/SKILL.md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substitution for N2, for already-connected participants only. Prompt L1. Use a maximum six calls/eight minutes active research. Access failure is BLOCKED, never an invitation to invent source support.</a:t>
            </a:r>
          </a:p>
          <a:p xmlns:a="http://schemas.openxmlformats.org/drawingml/2006/main">
            <a:r>
              <a:t/>
            </a:r>
          </a:p>
          <a:p xmlns:a="http://schemas.openxmlformats.org/drawingml/2006/main">
            <a:r>
              <a:t>[Sources]</a:t>
            </a:r>
          </a:p>
          <a:p xmlns:a="http://schemas.openxmlformats.org/drawingml/2006/main">
            <a:r>
              <a:t>https://descrybe.com/user-guide/legal-research-with-your-ai-assistant</a:t>
            </a:r>
          </a:p>
          <a:p xmlns:a="http://schemas.openxmlformats.org/drawingml/2006/main">
            <a:r>
              <a:t>https://descrybe.com/user-guide/claude-code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Take-home or spare exercise. Prompt L2 requires L1 or a verified baseline. Clearly label altered material as a teaching test. Do not present either tool confidence or memorized truth as evidence of an actual source check.</a:t>
            </a:r>
          </a:p>
          <a:p xmlns:a="http://schemas.openxmlformats.org/drawingml/2006/main">
            <a:r>
              <a:t/>
            </a:r>
          </a:p>
          <a:p xmlns:a="http://schemas.openxmlformats.org/drawingml/2006/main">
            <a:r>
              <a:t>[Sources]</a:t>
            </a:r>
          </a:p>
          <a:p xmlns:a="http://schemas.openxmlformats.org/drawingml/2006/main">
            <a:r>
              <a:t>https://descrybe.com/user-guide/legal-research-with-your-ai-assistant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 now. Stop all exercise work safely. Do not let setup or polishing consume this block. Ask the participant to review the agent's account rather than simply forwarding it. Return only approved FEEDBACK.md via the announced private route.</a:t>
            </a:r>
          </a:p>
          <a:p xmlns:a="http://schemas.openxmlformats.org/drawingml/2006/main">
            <a:r>
              <a:t/>
            </a:r>
          </a:p>
          <a:p xmlns:a="http://schemas.openxmlformats.org/drawingml/2006/main">
            <a:r>
              <a:t>[Sources]</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one success and one obstacle. Announce the approved feedback return route. The September 16 public event details belong to the current HOPE site, which listed 12:00-1:30 PM Pacific at prep time.</a:t>
            </a:r>
          </a:p>
          <a:p xmlns:a="http://schemas.openxmlformats.org/drawingml/2006/main">
            <a:r>
              <a:t/>
            </a:r>
          </a:p>
          <a:p xmlns:a="http://schemas.openxmlformats.org/drawingml/2006/main">
            <a:r>
              <a:t>[Sources]</a:t>
            </a:r>
          </a:p>
          <a:p xmlns:a="http://schemas.openxmlformats.org/drawingml/2006/main">
            <a:r>
              <a:t>https://timeandtokens.pages.dev/HOPE</a:t>
            </a:r>
          </a:p>
          <a:p xmlns:a="http://schemas.openxmlformats.org/drawingml/2006/main">
            <a:r>
              <a:t>https://github.com/dazzaji/interlateral_agents/blob/main/docs/overnight-cookbook.md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ed1c959aed4c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2cbee7217e4e54" /><Relationship Type="http://schemas.openxmlformats.org/officeDocument/2006/relationships/slideLayout" Target="/ppt/slideLayouts/slideLayout1.xml" Id="Ra91674eb6cd846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1674eb6cd846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a60c39828f4ebe" /><Relationship Type="http://schemas.openxmlformats.org/officeDocument/2006/relationships/notesSlide" Target="/ppt/notesSlides/notesSlide1.xml" Id="R26457ade752f44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6983f38da7467e" /><Relationship Type="http://schemas.openxmlformats.org/officeDocument/2006/relationships/notesSlide" Target="/ppt/notesSlides/notesSlide2.xml" Id="Rd19c1d270aa04e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5d9410c3d940b4" /><Relationship Type="http://schemas.openxmlformats.org/officeDocument/2006/relationships/notesSlide" Target="/ppt/notesSlides/notesSlide3.xml" Id="R4612da41b46943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b6130b869a4104" /><Relationship Type="http://schemas.openxmlformats.org/officeDocument/2006/relationships/notesSlide" Target="/ppt/notesSlides/notesSlide4.xml" Id="Rbb9f8ecb56a84b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954f02d7e14471" /><Relationship Type="http://schemas.openxmlformats.org/officeDocument/2006/relationships/notesSlide" Target="/ppt/notesSlides/notesSlide5.xml" Id="R782de89ef62349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9b7ebc5ca240a9" /><Relationship Type="http://schemas.openxmlformats.org/officeDocument/2006/relationships/notesSlide" Target="/ppt/notesSlides/notesSlide6.xml" Id="R9d1c90bb6d1947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b1d73beb9c4086" /><Relationship Type="http://schemas.openxmlformats.org/officeDocument/2006/relationships/notesSlide" Target="/ppt/notesSlides/notesSlide7.xml" Id="R110840e36c1c43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ef0a5187064daa" /><Relationship Type="http://schemas.openxmlformats.org/officeDocument/2006/relationships/notesSlide" Target="/ppt/notesSlides/notesSlide8.xml" Id="Rff9ccc5f766849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745d962fad44e2" /><Relationship Type="http://schemas.openxmlformats.org/officeDocument/2006/relationships/notesSlide" Target="/ppt/notesSlides/notesSlide9.xml" Id="Rf93742a51e5145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af9278712c4b9d" /><Relationship Type="http://schemas.openxmlformats.org/officeDocument/2006/relationships/notesSlide" Target="/ppt/notesSlides/notesSlide10.xml" Id="Ra1ed1a492ddd4d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B24FFA-3353-4E56-A94F-542D30439683}"/>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HOPE Lab</a:t>
            </a:r>
          </a:p>
        </p:txBody>
      </p:sp>
      <p:sp>
        <p:nvSpPr>
          <p:cNvPr id="2" name="">
            <a:extLst xmlns:a="http://schemas.openxmlformats.org/drawingml/2006/main">
              <a:ext uri="{FF2B5EF4-FFF2-40B4-BE49-F238E27FC236}">
                <a16:creationId xmlns:a16="http://schemas.microsoft.com/office/drawing/2014/main" id="{8B594D70-00CB-498D-81A4-E8EFB5BA3D2F}"/>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10953214-6C36-48C3-9C85-81C87FDBE73B}"/>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EBDB7969-2D69-4882-AB81-1FAB4E7DD551}"/>
              </a:ext>
            </a:extLst>
          </p:cNvPr>
          <p:cNvSpPr>
            <a:spLocks xmlns:a="http://schemas.openxmlformats.org/drawingml/2006/main" noGrp="1"/>
          </p:cNvSpPr>
          <p:nvPr/>
        </p:nvSpPr>
        <p:spPr>
          <a:xfrm xmlns:a="http://schemas.openxmlformats.org/drawingml/2006/main">
            <a:off x="704850" y="1857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182024"/>
                </a:solidFill>
                <a:latin typeface="Helvetica Neue"/>
                <a:ea typeface="Helvetica Neue"/>
                <a:cs typeface="Helvetica Neue"/>
              </a:defRPr>
            </a:pPr>
            <a:r>
              <a:rPr sz="4650" b="1">
                <a:solidFill>
                  <a:srgbClr val="182024"/>
                </a:solidFill>
                <a:latin typeface="Helvetica Neue"/>
                <a:ea typeface="Helvetica Neue"/>
                <a:cs typeface="Helvetica Neue"/>
              </a:rPr>
              <a:t>A small project, with evidence</a:t>
            </a:r>
          </a:p>
        </p:txBody>
      </p:sp>
      <p:sp>
        <p:nvSpPr>
          <p:cNvPr id="5" name="">
            <a:extLst xmlns:a="http://schemas.openxmlformats.org/drawingml/2006/main">
              <a:ext uri="{FF2B5EF4-FFF2-40B4-BE49-F238E27FC236}">
                <a16:creationId xmlns:a16="http://schemas.microsoft.com/office/drawing/2014/main" id="{8D68D487-C9F2-47AC-BB51-3CE8F41A263D}"/>
              </a:ext>
            </a:extLst>
          </p:cNvPr>
          <p:cNvSpPr>
            <a:spLocks xmlns:a="http://schemas.openxmlformats.org/drawingml/2006/main" noGrp="1"/>
          </p:cNvSpPr>
          <p:nvPr/>
        </p:nvSpPr>
        <p:spPr>
          <a:xfrm xmlns:a="http://schemas.openxmlformats.org/drawingml/2006/main">
            <a:off x="704850" y="3667125"/>
            <a:ext cx="685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505B62"/>
                </a:solidFill>
                <a:latin typeface="Helvetica Neue"/>
                <a:ea typeface="Helvetica Neue"/>
                <a:cs typeface="Helvetica Neue"/>
              </a:defRPr>
            </a:pPr>
            <a:r>
              <a:rPr sz="2325" b="0">
                <a:solidFill>
                  <a:srgbClr val="505B62"/>
                </a:solidFill>
                <a:latin typeface="Helvetica Neue"/>
                <a:ea typeface="Helvetica Neue"/>
                <a:cs typeface="Helvetica Neue"/>
              </a:rPr>
              <a:t>Second test session</a:t>
            </a:r>
          </a:p>
          <a:p xmlns:a="http://schemas.openxmlformats.org/drawingml/2006/main">
            <a:pPr>
              <a:defRPr sz="2325" b="0">
                <a:solidFill>
                  <a:srgbClr val="505B62"/>
                </a:solidFill>
                <a:latin typeface="Helvetica Neue"/>
                <a:ea typeface="Helvetica Neue"/>
                <a:cs typeface="Helvetica Neue"/>
              </a:defRPr>
            </a:pPr>
            <a:r>
              <a:rPr sz="2325" b="0">
                <a:solidFill>
                  <a:srgbClr val="505B62"/>
                </a:solidFill>
                <a:latin typeface="Helvetica Neue"/>
                <a:ea typeface="Helvetica Neue"/>
                <a:cs typeface="Helvetica Neue"/>
              </a:rPr>
              <a:t>Friday, September 4, 2026</a:t>
            </a:r>
          </a:p>
          <a:p xmlns:a="http://schemas.openxmlformats.org/drawingml/2006/main">
            <a:pPr>
              <a:defRPr sz="2325" b="0">
                <a:solidFill>
                  <a:srgbClr val="505B62"/>
                </a:solidFill>
                <a:latin typeface="Helvetica Neue"/>
                <a:ea typeface="Helvetica Neue"/>
                <a:cs typeface="Helvetica Neue"/>
              </a:defRPr>
            </a:pPr>
            <a:r>
              <a:rPr sz="2325" b="0">
                <a:solidFill>
                  <a:srgbClr val="505B62"/>
                </a:solidFill>
                <a:latin typeface="Helvetica Neue"/>
                <a:ea typeface="Helvetica Neue"/>
                <a:cs typeface="Helvetica Neue"/>
              </a:rPr>
              <a:t>12:00–1:00 PM Pacific</a:t>
            </a:r>
          </a:p>
        </p:txBody>
      </p:sp>
      <p:sp>
        <p:nvSpPr>
          <p:cNvPr id="6" name="">
            <a:extLst xmlns:a="http://schemas.openxmlformats.org/drawingml/2006/main">
              <a:ext uri="{FF2B5EF4-FFF2-40B4-BE49-F238E27FC236}">
                <a16:creationId xmlns:a16="http://schemas.microsoft.com/office/drawing/2014/main" id="{62D00A82-7C4A-4BB9-B159-B8142154E7D8}"/>
              </a:ext>
            </a:extLst>
          </p:cNvPr>
          <p:cNvSpPr>
            <a:spLocks xmlns:a="http://schemas.openxmlformats.org/drawingml/2006/main" noGrp="1"/>
          </p:cNvSpPr>
          <p:nvPr/>
        </p:nvSpPr>
        <p:spPr>
          <a:xfrm xmlns:a="http://schemas.openxmlformats.org/drawingml/2006/main">
            <a:off x="704850" y="5562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6D58"/>
                </a:solidFill>
                <a:latin typeface="Helvetica Neue"/>
                <a:ea typeface="Helvetica Neue"/>
                <a:cs typeface="Helvetica Neue"/>
              </a:defRPr>
            </a:pPr>
            <a:r>
              <a:rPr sz="2250" b="1">
                <a:solidFill>
                  <a:srgbClr val="176D58"/>
                </a:solidFill>
                <a:latin typeface="Helvetica Neue"/>
                <a:ea typeface="Helvetica Neue"/>
                <a:cs typeface="Helvetica Neue"/>
              </a:rPr>
              <a:t>With Dazza Greenwood</a:t>
            </a:r>
          </a:p>
        </p:txBody>
      </p:sp>
    </p:spTree>
    <p:extLst>
      <p:ext uri="{BB962C8B-B14F-4D97-AF65-F5344CB8AC3E}">
        <p14:creationId xmlns:p14="http://schemas.microsoft.com/office/powerpoint/2010/main" val="16714656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BD54965-298A-46BD-B22C-47676141BF95}"/>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Today's one-hour session</a:t>
            </a:r>
          </a:p>
        </p:txBody>
      </p:sp>
      <p:sp>
        <p:nvSpPr>
          <p:cNvPr id="2" name="">
            <a:extLst xmlns:a="http://schemas.openxmlformats.org/drawingml/2006/main">
              <a:ext uri="{FF2B5EF4-FFF2-40B4-BE49-F238E27FC236}">
                <a16:creationId xmlns:a16="http://schemas.microsoft.com/office/drawing/2014/main" id="{9C57E0E7-81E0-4E44-854F-275B70CAE65E}"/>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044D6114-BC96-40A5-BC1E-6025F1E60515}"/>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4230785E-A4CE-4859-B896-D25AF10AB8B7}"/>
              </a:ext>
            </a:extLst>
          </p:cNvPr>
          <p:cNvSpPr>
            <a:spLocks xmlns:a="http://schemas.openxmlformats.org/drawingml/2006/main" noGrp="1"/>
          </p:cNvSpPr>
          <p:nvPr/>
        </p:nvSpPr>
        <p:spPr>
          <a:xfrm xmlns:a="http://schemas.openxmlformats.org/drawingml/2006/main">
            <a:off x="704850" y="1666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12:00–12:05</a:t>
            </a:r>
          </a:p>
        </p:txBody>
      </p:sp>
      <p:sp>
        <p:nvSpPr>
          <p:cNvPr id="5" name="">
            <a:extLst xmlns:a="http://schemas.openxmlformats.org/drawingml/2006/main">
              <a:ext uri="{FF2B5EF4-FFF2-40B4-BE49-F238E27FC236}">
                <a16:creationId xmlns:a16="http://schemas.microsoft.com/office/drawing/2014/main" id="{590F7FEB-673E-4215-B524-7D4F83D4BD85}"/>
              </a:ext>
            </a:extLst>
          </p:cNvPr>
          <p:cNvSpPr>
            <a:spLocks xmlns:a="http://schemas.openxmlformats.org/drawingml/2006/main" noGrp="1"/>
          </p:cNvSpPr>
          <p:nvPr/>
        </p:nvSpPr>
        <p:spPr>
          <a:xfrm xmlns:a="http://schemas.openxmlformats.org/drawingml/2006/main">
            <a:off x="3714750" y="16668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Welcome and prompt sheet</a:t>
            </a:r>
          </a:p>
        </p:txBody>
      </p:sp>
      <p:sp>
        <p:nvSpPr>
          <p:cNvPr id="6" name="">
            <a:extLst xmlns:a="http://schemas.openxmlformats.org/drawingml/2006/main">
              <a:ext uri="{FF2B5EF4-FFF2-40B4-BE49-F238E27FC236}">
                <a16:creationId xmlns:a16="http://schemas.microsoft.com/office/drawing/2014/main" id="{0FCD2153-999D-4461-914D-8388228954AE}"/>
              </a:ext>
            </a:extLst>
          </p:cNvPr>
          <p:cNvSpPr>
            <a:spLocks xmlns:a="http://schemas.openxmlformats.org/drawingml/2006/main" noGrp="1"/>
          </p:cNvSpPr>
          <p:nvPr/>
        </p:nvSpPr>
        <p:spPr>
          <a:xfrm xmlns:a="http://schemas.openxmlformats.org/drawingml/2006/main">
            <a:off x="704850" y="23622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12:05–12:15</a:t>
            </a:r>
          </a:p>
        </p:txBody>
      </p:sp>
      <p:sp>
        <p:nvSpPr>
          <p:cNvPr id="7" name="">
            <a:extLst xmlns:a="http://schemas.openxmlformats.org/drawingml/2006/main">
              <a:ext uri="{FF2B5EF4-FFF2-40B4-BE49-F238E27FC236}">
                <a16:creationId xmlns:a16="http://schemas.microsoft.com/office/drawing/2014/main" id="{C69FFEDD-537F-450E-AB60-273CFA207D1C}"/>
              </a:ext>
            </a:extLst>
          </p:cNvPr>
          <p:cNvSpPr>
            <a:spLocks xmlns:a="http://schemas.openxmlformats.org/drawingml/2006/main" noGrp="1"/>
          </p:cNvSpPr>
          <p:nvPr/>
        </p:nvSpPr>
        <p:spPr>
          <a:xfrm xmlns:a="http://schemas.openxmlformats.org/drawingml/2006/main">
            <a:off x="3714750" y="23622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Optional setup or a head start on N1</a:t>
            </a:r>
          </a:p>
        </p:txBody>
      </p:sp>
      <p:sp>
        <p:nvSpPr>
          <p:cNvPr id="8" name="">
            <a:extLst xmlns:a="http://schemas.openxmlformats.org/drawingml/2006/main">
              <a:ext uri="{FF2B5EF4-FFF2-40B4-BE49-F238E27FC236}">
                <a16:creationId xmlns:a16="http://schemas.microsoft.com/office/drawing/2014/main" id="{F866B22D-36B7-4BF4-8897-D4BDDD707527}"/>
              </a:ext>
            </a:extLst>
          </p:cNvPr>
          <p:cNvSpPr>
            <a:spLocks xmlns:a="http://schemas.openxmlformats.org/drawingml/2006/main" noGrp="1"/>
          </p:cNvSpPr>
          <p:nvPr/>
        </p:nvSpPr>
        <p:spPr>
          <a:xfrm xmlns:a="http://schemas.openxmlformats.org/drawingml/2006/main">
            <a:off x="704850" y="30575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12:15–12:28</a:t>
            </a:r>
          </a:p>
        </p:txBody>
      </p:sp>
      <p:sp>
        <p:nvSpPr>
          <p:cNvPr id="9" name="">
            <a:extLst xmlns:a="http://schemas.openxmlformats.org/drawingml/2006/main">
              <a:ext uri="{FF2B5EF4-FFF2-40B4-BE49-F238E27FC236}">
                <a16:creationId xmlns:a16="http://schemas.microsoft.com/office/drawing/2014/main" id="{3E9FC64A-C943-43DE-AE77-C4E4DA1FB619}"/>
              </a:ext>
            </a:extLst>
          </p:cNvPr>
          <p:cNvSpPr>
            <a:spLocks xmlns:a="http://schemas.openxmlformats.org/drawingml/2006/main" noGrp="1"/>
          </p:cNvSpPr>
          <p:nvPr/>
        </p:nvSpPr>
        <p:spPr>
          <a:xfrm xmlns:a="http://schemas.openxmlformats.org/drawingml/2006/main">
            <a:off x="3714750" y="305752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N1: a tiny sprint and a run sheet</a:t>
            </a:r>
          </a:p>
        </p:txBody>
      </p:sp>
      <p:sp>
        <p:nvSpPr>
          <p:cNvPr id="10" name="">
            <a:extLst xmlns:a="http://schemas.openxmlformats.org/drawingml/2006/main">
              <a:ext uri="{FF2B5EF4-FFF2-40B4-BE49-F238E27FC236}">
                <a16:creationId xmlns:a16="http://schemas.microsoft.com/office/drawing/2014/main" id="{20F02CFE-CB42-4C3B-8600-F8F2DEF31302}"/>
              </a:ext>
            </a:extLst>
          </p:cNvPr>
          <p:cNvSpPr>
            <a:spLocks xmlns:a="http://schemas.openxmlformats.org/drawingml/2006/main" noGrp="1"/>
          </p:cNvSpPr>
          <p:nvPr/>
        </p:nvSpPr>
        <p:spPr>
          <a:xfrm xmlns:a="http://schemas.openxmlformats.org/drawingml/2006/main">
            <a:off x="704850" y="37528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12:28–12:40</a:t>
            </a:r>
          </a:p>
        </p:txBody>
      </p:sp>
      <p:sp>
        <p:nvSpPr>
          <p:cNvPr id="11" name="">
            <a:extLst xmlns:a="http://schemas.openxmlformats.org/drawingml/2006/main">
              <a:ext uri="{FF2B5EF4-FFF2-40B4-BE49-F238E27FC236}">
                <a16:creationId xmlns:a16="http://schemas.microsoft.com/office/drawing/2014/main" id="{0BDADBC6-63C9-4465-87FF-4131AC1F07FC}"/>
              </a:ext>
            </a:extLst>
          </p:cNvPr>
          <p:cNvSpPr>
            <a:spLocks xmlns:a="http://schemas.openxmlformats.org/drawingml/2006/main" noGrp="1"/>
          </p:cNvSpPr>
          <p:nvPr/>
        </p:nvSpPr>
        <p:spPr>
          <a:xfrm xmlns:a="http://schemas.openxmlformats.org/drawingml/2006/main">
            <a:off x="3714750" y="375285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N2: review and repair</a:t>
            </a:r>
          </a:p>
        </p:txBody>
      </p:sp>
      <p:sp>
        <p:nvSpPr>
          <p:cNvPr id="12" name="">
            <a:extLst xmlns:a="http://schemas.openxmlformats.org/drawingml/2006/main">
              <a:ext uri="{FF2B5EF4-FFF2-40B4-BE49-F238E27FC236}">
                <a16:creationId xmlns:a16="http://schemas.microsoft.com/office/drawing/2014/main" id="{5F6DDCDF-64C0-4988-A70D-2F2273FEE373}"/>
              </a:ext>
            </a:extLst>
          </p:cNvPr>
          <p:cNvSpPr>
            <a:spLocks xmlns:a="http://schemas.openxmlformats.org/drawingml/2006/main" noGrp="1"/>
          </p:cNvSpPr>
          <p:nvPr/>
        </p:nvSpPr>
        <p:spPr>
          <a:xfrm xmlns:a="http://schemas.openxmlformats.org/drawingml/2006/main">
            <a:off x="704850" y="44481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12:40–12:45</a:t>
            </a:r>
          </a:p>
        </p:txBody>
      </p:sp>
      <p:sp>
        <p:nvSpPr>
          <p:cNvPr id="13" name="">
            <a:extLst xmlns:a="http://schemas.openxmlformats.org/drawingml/2006/main">
              <a:ext uri="{FF2B5EF4-FFF2-40B4-BE49-F238E27FC236}">
                <a16:creationId xmlns:a16="http://schemas.microsoft.com/office/drawing/2014/main" id="{EA776221-4BA5-4482-87C7-F6E67C445DCF}"/>
              </a:ext>
            </a:extLst>
          </p:cNvPr>
          <p:cNvSpPr>
            <a:spLocks xmlns:a="http://schemas.openxmlformats.org/drawingml/2006/main" noGrp="1"/>
          </p:cNvSpPr>
          <p:nvPr/>
        </p:nvSpPr>
        <p:spPr>
          <a:xfrm xmlns:a="http://schemas.openxmlformats.org/drawingml/2006/main">
            <a:off x="3714750" y="44481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Compare results</a:t>
            </a:r>
          </a:p>
        </p:txBody>
      </p:sp>
      <p:sp>
        <p:nvSpPr>
          <p:cNvPr id="14" name="">
            <a:extLst xmlns:a="http://schemas.openxmlformats.org/drawingml/2006/main">
              <a:ext uri="{FF2B5EF4-FFF2-40B4-BE49-F238E27FC236}">
                <a16:creationId xmlns:a16="http://schemas.microsoft.com/office/drawing/2014/main" id="{29827492-D886-4025-84B3-AB786E61C09E}"/>
              </a:ext>
            </a:extLst>
          </p:cNvPr>
          <p:cNvSpPr>
            <a:spLocks xmlns:a="http://schemas.openxmlformats.org/drawingml/2006/main" noGrp="1"/>
          </p:cNvSpPr>
          <p:nvPr/>
        </p:nvSpPr>
        <p:spPr>
          <a:xfrm xmlns:a="http://schemas.openxmlformats.org/drawingml/2006/main">
            <a:off x="704850" y="51435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12:45–1:00</a:t>
            </a:r>
          </a:p>
        </p:txBody>
      </p:sp>
      <p:sp>
        <p:nvSpPr>
          <p:cNvPr id="15" name="">
            <a:extLst xmlns:a="http://schemas.openxmlformats.org/drawingml/2006/main">
              <a:ext uri="{FF2B5EF4-FFF2-40B4-BE49-F238E27FC236}">
                <a16:creationId xmlns:a16="http://schemas.microsoft.com/office/drawing/2014/main" id="{36A351D0-D6C7-48C7-A427-CBA93135CF9D}"/>
              </a:ext>
            </a:extLst>
          </p:cNvPr>
          <p:cNvSpPr>
            <a:spLocks xmlns:a="http://schemas.openxmlformats.org/drawingml/2006/main" noGrp="1"/>
          </p:cNvSpPr>
          <p:nvPr/>
        </p:nvSpPr>
        <p:spPr>
          <a:xfrm xmlns:a="http://schemas.openxmlformats.org/drawingml/2006/main">
            <a:off x="3714750" y="51435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Agent debrief and human feedback</a:t>
            </a:r>
          </a:p>
        </p:txBody>
      </p:sp>
    </p:spTree>
    <p:extLst>
      <p:ext uri="{BB962C8B-B14F-4D97-AF65-F5344CB8AC3E}">
        <p14:creationId xmlns:p14="http://schemas.microsoft.com/office/powerpoint/2010/main" val="15558355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8ACBC9-AEB8-4BC2-8D82-AD2342F1E9AA}"/>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Optional Descrybe setup</a:t>
            </a:r>
          </a:p>
        </p:txBody>
      </p:sp>
      <p:sp>
        <p:nvSpPr>
          <p:cNvPr id="2" name="">
            <a:extLst xmlns:a="http://schemas.openxmlformats.org/drawingml/2006/main">
              <a:ext uri="{FF2B5EF4-FFF2-40B4-BE49-F238E27FC236}">
                <a16:creationId xmlns:a16="http://schemas.microsoft.com/office/drawing/2014/main" id="{2AEFCD4D-37E5-4567-9F1D-0D5AEDC3BAFA}"/>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81156E89-8560-40FD-9B16-B9FF5295E90E}"/>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66275BA4-FC6D-43AD-AEEE-0794C2928FFE}"/>
              </a:ext>
            </a:extLst>
          </p:cNvPr>
          <p:cNvSpPr>
            <a:spLocks xmlns:a="http://schemas.openxmlformats.org/drawingml/2006/main" noGrp="1"/>
          </p:cNvSpPr>
          <p:nvPr/>
        </p:nvSpPr>
        <p:spPr>
          <a:xfrm xmlns:a="http://schemas.openxmlformats.org/drawingml/2006/main">
            <a:off x="704850" y="1905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Already connected</a:t>
            </a:r>
          </a:p>
        </p:txBody>
      </p:sp>
      <p:sp>
        <p:nvSpPr>
          <p:cNvPr id="5" name="">
            <a:extLst xmlns:a="http://schemas.openxmlformats.org/drawingml/2006/main">
              <a:ext uri="{FF2B5EF4-FFF2-40B4-BE49-F238E27FC236}">
                <a16:creationId xmlns:a16="http://schemas.microsoft.com/office/drawing/2014/main" id="{7D8D1B53-10D7-45BC-85A5-6E0780C0F964}"/>
              </a:ext>
            </a:extLst>
          </p:cNvPr>
          <p:cNvSpPr>
            <a:spLocks xmlns:a="http://schemas.openxmlformats.org/drawingml/2006/main" noGrp="1"/>
          </p:cNvSpPr>
          <p:nvPr/>
        </p:nvSpPr>
        <p:spPr>
          <a:xfrm xmlns:a="http://schemas.openxmlformats.org/drawingml/2006/main">
            <a:off x="3714750" y="1905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One narrow case lookup confirms working access.</a:t>
            </a:r>
          </a:p>
        </p:txBody>
      </p:sp>
      <p:sp>
        <p:nvSpPr>
          <p:cNvPr id="6" name="">
            <a:extLst xmlns:a="http://schemas.openxmlformats.org/drawingml/2006/main">
              <a:ext uri="{FF2B5EF4-FFF2-40B4-BE49-F238E27FC236}">
                <a16:creationId xmlns:a16="http://schemas.microsoft.com/office/drawing/2014/main" id="{D1E2DE36-DFFC-41DD-BDF1-9F609888A1E7}"/>
              </a:ext>
            </a:extLst>
          </p:cNvPr>
          <p:cNvSpPr>
            <a:spLocks xmlns:a="http://schemas.openxmlformats.org/drawingml/2006/main" noGrp="1"/>
          </p:cNvSpPr>
          <p:nvPr/>
        </p:nvSpPr>
        <p:spPr>
          <a:xfrm xmlns:a="http://schemas.openxmlformats.org/drawingml/2006/main">
            <a:off x="704850" y="3048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Needs setup</a:t>
            </a:r>
          </a:p>
        </p:txBody>
      </p:sp>
      <p:sp>
        <p:nvSpPr>
          <p:cNvPr id="7" name="">
            <a:extLst xmlns:a="http://schemas.openxmlformats.org/drawingml/2006/main">
              <a:ext uri="{FF2B5EF4-FFF2-40B4-BE49-F238E27FC236}">
                <a16:creationId xmlns:a16="http://schemas.microsoft.com/office/drawing/2014/main" id="{296FAB06-45C2-402B-8CAE-B65EA0FDE76E}"/>
              </a:ext>
            </a:extLst>
          </p:cNvPr>
          <p:cNvSpPr>
            <a:spLocks xmlns:a="http://schemas.openxmlformats.org/drawingml/2006/main" noGrp="1"/>
          </p:cNvSpPr>
          <p:nvPr/>
        </p:nvSpPr>
        <p:spPr>
          <a:xfrm xmlns:a="http://schemas.openxmlformats.org/drawingml/2006/main">
            <a:off x="3714750" y="3048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Prompt S guides one supported route and asks before changes.</a:t>
            </a:r>
          </a:p>
        </p:txBody>
      </p:sp>
      <p:sp>
        <p:nvSpPr>
          <p:cNvPr id="8" name="">
            <a:extLst xmlns:a="http://schemas.openxmlformats.org/drawingml/2006/main">
              <a:ext uri="{FF2B5EF4-FFF2-40B4-BE49-F238E27FC236}">
                <a16:creationId xmlns:a16="http://schemas.microsoft.com/office/drawing/2014/main" id="{663639E4-26EA-4DA9-AE78-AF43EB6476CF}"/>
              </a:ext>
            </a:extLst>
          </p:cNvPr>
          <p:cNvSpPr>
            <a:spLocks xmlns:a="http://schemas.openxmlformats.org/drawingml/2006/main" noGrp="1"/>
          </p:cNvSpPr>
          <p:nvPr/>
        </p:nvSpPr>
        <p:spPr>
          <a:xfrm xmlns:a="http://schemas.openxmlformats.org/drawingml/2006/main">
            <a:off x="704850" y="4191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Still blocked</a:t>
            </a:r>
          </a:p>
        </p:txBody>
      </p:sp>
      <p:sp>
        <p:nvSpPr>
          <p:cNvPr id="9" name="">
            <a:extLst xmlns:a="http://schemas.openxmlformats.org/drawingml/2006/main">
              <a:ext uri="{FF2B5EF4-FFF2-40B4-BE49-F238E27FC236}">
                <a16:creationId xmlns:a16="http://schemas.microsoft.com/office/drawing/2014/main" id="{B8CE6056-0B90-429D-B4FD-1DCB3D3560FF}"/>
              </a:ext>
            </a:extLst>
          </p:cNvPr>
          <p:cNvSpPr>
            <a:spLocks xmlns:a="http://schemas.openxmlformats.org/drawingml/2006/main" noGrp="1"/>
          </p:cNvSpPr>
          <p:nvPr/>
        </p:nvSpPr>
        <p:spPr>
          <a:xfrm xmlns:a="http://schemas.openxmlformats.org/drawingml/2006/main">
            <a:off x="3714750" y="4191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Record the problem and continue with N1/N2.</a:t>
            </a:r>
          </a:p>
        </p:txBody>
      </p:sp>
      <p:sp>
        <p:nvSpPr>
          <p:cNvPr id="10" name="">
            <a:extLst xmlns:a="http://schemas.openxmlformats.org/drawingml/2006/main">
              <a:ext uri="{FF2B5EF4-FFF2-40B4-BE49-F238E27FC236}">
                <a16:creationId xmlns:a16="http://schemas.microsoft.com/office/drawing/2014/main" id="{27A4DF5D-8943-48D2-8628-75CEDBB02831}"/>
              </a:ext>
            </a:extLst>
          </p:cNvPr>
          <p:cNvSpPr>
            <a:spLocks xmlns:a="http://schemas.openxmlformats.org/drawingml/2006/main" noGrp="1"/>
          </p:cNvSpPr>
          <p:nvPr/>
        </p:nvSpPr>
        <p:spPr>
          <a:xfrm xmlns:a="http://schemas.openxmlformats.org/drawingml/2006/main">
            <a:off x="704850" y="53911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AA4537"/>
                </a:solidFill>
                <a:latin typeface="Helvetica Neue"/>
                <a:ea typeface="Helvetica Neue"/>
                <a:cs typeface="Helvetica Neue"/>
              </a:defRPr>
            </a:pPr>
            <a:r>
              <a:rPr sz="2175" b="1">
                <a:solidFill>
                  <a:srgbClr val="AA4537"/>
                </a:solidFill>
                <a:latin typeface="Helvetica Neue"/>
                <a:ea typeface="Helvetica Neue"/>
                <a:cs typeface="Helvetica Neue"/>
              </a:rPr>
              <a:t>Ten-minute target. Fifteen-minute maximum.</a:t>
            </a:r>
          </a:p>
          <a:p xmlns:a="http://schemas.openxmlformats.org/drawingml/2006/main">
            <a:pPr>
              <a:defRPr sz="2175" b="1">
                <a:solidFill>
                  <a:srgbClr val="AA4537"/>
                </a:solidFill>
                <a:latin typeface="Helvetica Neue"/>
                <a:ea typeface="Helvetica Neue"/>
                <a:cs typeface="Helvetica Neue"/>
              </a:defRPr>
            </a:pPr>
            <a:r>
              <a:rPr sz="2175" b="1">
                <a:solidFill>
                  <a:srgbClr val="AA4537"/>
                </a:solidFill>
                <a:latin typeface="Helvetica Neue"/>
                <a:ea typeface="Helvetica Neue"/>
                <a:cs typeface="Helvetica Neue"/>
              </a:rPr>
              <a:t>No legal research access required for the main exercises.</a:t>
            </a:r>
          </a:p>
        </p:txBody>
      </p:sp>
    </p:spTree>
    <p:extLst>
      <p:ext uri="{BB962C8B-B14F-4D97-AF65-F5344CB8AC3E}">
        <p14:creationId xmlns:p14="http://schemas.microsoft.com/office/powerpoint/2010/main" val="12005112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946B7F-0E99-4923-B0FA-955C91E17627}"/>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N1: A tiny sprint and run sheet</a:t>
            </a:r>
          </a:p>
        </p:txBody>
      </p:sp>
      <p:sp>
        <p:nvSpPr>
          <p:cNvPr id="2" name="">
            <a:extLst xmlns:a="http://schemas.openxmlformats.org/drawingml/2006/main">
              <a:ext uri="{FF2B5EF4-FFF2-40B4-BE49-F238E27FC236}">
                <a16:creationId xmlns:a16="http://schemas.microsoft.com/office/drawing/2014/main" id="{B87BA679-4006-46D3-BFAD-512CFDD86BE5}"/>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BA72BB85-C261-4365-A258-F74A6A873B06}"/>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161DACD-2FBA-4A5D-AE99-B78A2F6F2812}"/>
              </a:ext>
            </a:extLst>
          </p:cNvPr>
          <p:cNvSpPr>
            <a:spLocks xmlns:a="http://schemas.openxmlformats.org/drawingml/2006/main" noGrp="1"/>
          </p:cNvSpPr>
          <p:nvPr/>
        </p:nvSpPr>
        <p:spPr>
          <a:xfrm xmlns:a="http://schemas.openxmlformats.org/drawingml/2006/main">
            <a:off x="704850" y="17526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Fictional Community Skills Lab</a:t>
            </a:r>
          </a:p>
        </p:txBody>
      </p:sp>
      <p:sp>
        <p:nvSpPr>
          <p:cNvPr id="5" name="">
            <a:extLst xmlns:a="http://schemas.openxmlformats.org/drawingml/2006/main">
              <a:ext uri="{FF2B5EF4-FFF2-40B4-BE49-F238E27FC236}">
                <a16:creationId xmlns:a16="http://schemas.microsoft.com/office/drawing/2014/main" id="{3DDDF3B9-C1CF-4212-B379-4F94F2702627}"/>
              </a:ext>
            </a:extLst>
          </p:cNvPr>
          <p:cNvSpPr>
            <a:spLocks xmlns:a="http://schemas.openxmlformats.org/drawingml/2006/main" noGrp="1"/>
          </p:cNvSpPr>
          <p:nvPr/>
        </p:nvSpPr>
        <p:spPr>
          <a:xfrm xmlns:a="http://schemas.openxmlformats.org/drawingml/2006/main">
            <a:off x="704850" y="24574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30 minutes total</a:t>
            </a:r>
          </a:p>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Welcome 3 / demo 7 / exercise 12 / feedback 5 / close 3</a:t>
            </a:r>
          </a:p>
        </p:txBody>
      </p:sp>
      <p:sp>
        <p:nvSpPr>
          <p:cNvPr id="6" name="">
            <a:extLst xmlns:a="http://schemas.openxmlformats.org/drawingml/2006/main">
              <a:ext uri="{FF2B5EF4-FFF2-40B4-BE49-F238E27FC236}">
                <a16:creationId xmlns:a16="http://schemas.microsoft.com/office/drawing/2014/main" id="{3CED0F65-85ED-4F88-92B8-47F409A7709F}"/>
              </a:ext>
            </a:extLst>
          </p:cNvPr>
          <p:cNvSpPr>
            <a:spLocks xmlns:a="http://schemas.openxmlformats.org/drawingml/2006/main" noGrp="1"/>
          </p:cNvSpPr>
          <p:nvPr/>
        </p:nvSpPr>
        <p:spPr>
          <a:xfrm xmlns:a="http://schemas.openxmlformats.org/drawingml/2006/main">
            <a:off x="704850" y="38100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First: SPRINT.md and your approval</a:t>
            </a:r>
          </a:p>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Then: RUN-SHEET.md and recorded checks</a:t>
            </a:r>
          </a:p>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Finally: your inspection and acceptance</a:t>
            </a:r>
          </a:p>
        </p:txBody>
      </p:sp>
      <p:sp>
        <p:nvSpPr>
          <p:cNvPr id="7" name="">
            <a:extLst xmlns:a="http://schemas.openxmlformats.org/drawingml/2006/main">
              <a:ext uri="{FF2B5EF4-FFF2-40B4-BE49-F238E27FC236}">
                <a16:creationId xmlns:a16="http://schemas.microsoft.com/office/drawing/2014/main" id="{5F4638F4-3849-4678-A2E7-C685973521C5}"/>
              </a:ext>
            </a:extLst>
          </p:cNvPr>
          <p:cNvSpPr>
            <a:spLocks xmlns:a="http://schemas.openxmlformats.org/drawingml/2006/main" noGrp="1"/>
          </p:cNvSpPr>
          <p:nvPr/>
        </p:nvSpPr>
        <p:spPr>
          <a:xfrm xmlns:a="http://schemas.openxmlformats.org/drawingml/2006/main">
            <a:off x="704850" y="55911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82024"/>
                </a:solidFill>
                <a:latin typeface="Helvetica Neue"/>
                <a:ea typeface="Helvetica Neue"/>
                <a:cs typeface="Helvetica Neue"/>
              </a:defRPr>
            </a:pPr>
            <a:r>
              <a:rPr sz="2175" b="1">
                <a:solidFill>
                  <a:srgbClr val="182024"/>
                </a:solidFill>
                <a:latin typeface="Helvetica Neue"/>
                <a:ea typeface="Helvetica Neue"/>
                <a:cs typeface="Helvetica Neue"/>
              </a:rPr>
              <a:t>No gaps. No overlaps. No invented commitments.</a:t>
            </a:r>
          </a:p>
        </p:txBody>
      </p:sp>
    </p:spTree>
    <p:extLst>
      <p:ext uri="{BB962C8B-B14F-4D97-AF65-F5344CB8AC3E}">
        <p14:creationId xmlns:p14="http://schemas.microsoft.com/office/powerpoint/2010/main" val="16761400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516A0C-04CC-472B-B299-DD39CAD910F6}"/>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N2: Review and repair</a:t>
            </a:r>
          </a:p>
        </p:txBody>
      </p:sp>
      <p:sp>
        <p:nvSpPr>
          <p:cNvPr id="2" name="">
            <a:extLst xmlns:a="http://schemas.openxmlformats.org/drawingml/2006/main">
              <a:ext uri="{FF2B5EF4-FFF2-40B4-BE49-F238E27FC236}">
                <a16:creationId xmlns:a16="http://schemas.microsoft.com/office/drawing/2014/main" id="{CBDC3270-A3FD-461C-8003-F7B5BDB1D083}"/>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7497168E-2862-4FE1-9514-BD45915E60CA}"/>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6A33234-F774-4B93-968D-A56A2155DD10}"/>
              </a:ext>
            </a:extLst>
          </p:cNvPr>
          <p:cNvSpPr>
            <a:spLocks xmlns:a="http://schemas.openxmlformats.org/drawingml/2006/main" noGrp="1"/>
          </p:cNvSpPr>
          <p:nvPr/>
        </p:nvSpPr>
        <p:spPr>
          <a:xfrm xmlns:a="http://schemas.openxmlformats.org/drawingml/2006/main">
            <a:off x="704850" y="17335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A deliberately flawed announcement</a:t>
            </a:r>
          </a:p>
        </p:txBody>
      </p:sp>
      <p:sp>
        <p:nvSpPr>
          <p:cNvPr id="5" name="">
            <a:extLst xmlns:a="http://schemas.openxmlformats.org/drawingml/2006/main">
              <a:ext uri="{FF2B5EF4-FFF2-40B4-BE49-F238E27FC236}">
                <a16:creationId xmlns:a16="http://schemas.microsoft.com/office/drawing/2014/main" id="{7FEA8312-9B93-49EF-8191-7B7370229797}"/>
              </a:ext>
            </a:extLst>
          </p:cNvPr>
          <p:cNvSpPr>
            <a:spLocks xmlns:a="http://schemas.openxmlformats.org/drawingml/2006/main" noGrp="1"/>
          </p:cNvSpPr>
          <p:nvPr/>
        </p:nvSpPr>
        <p:spPr>
          <a:xfrm xmlns:a="http://schemas.openxmlformats.org/drawingml/2006/main">
            <a:off x="704850" y="2600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AA4537"/>
                </a:solidFill>
                <a:latin typeface="Helvetica Neue"/>
                <a:ea typeface="Helvetica Neue"/>
                <a:cs typeface="Helvetica Neue"/>
              </a:defRPr>
            </a:pPr>
            <a:r>
              <a:rPr sz="2175" b="0">
                <a:solidFill>
                  <a:srgbClr val="AA4537"/>
                </a:solidFill>
                <a:latin typeface="Helvetica Neue"/>
                <a:ea typeface="Helvetica Neue"/>
                <a:cs typeface="Helvetica Neue"/>
              </a:rPr>
              <a:t>“Attendance is mandatory at our 45-minute paid lab…”</a:t>
            </a:r>
          </a:p>
          <a:p xmlns:a="http://schemas.openxmlformats.org/drawingml/2006/main">
            <a:pPr>
              <a:defRPr sz="2175" b="0">
                <a:solidFill>
                  <a:srgbClr val="AA4537"/>
                </a:solidFill>
                <a:latin typeface="Helvetica Neue"/>
                <a:ea typeface="Helvetica Neue"/>
                <a:cs typeface="Helvetica Neue"/>
              </a:defRPr>
            </a:pPr>
            <a:r>
              <a:rPr sz="2175" b="0">
                <a:solidFill>
                  <a:srgbClr val="AA4537"/>
                </a:solidFill>
                <a:latin typeface="Helvetica Neue"/>
                <a:ea typeface="Helvetica Neue"/>
                <a:cs typeface="Helvetica Neue"/>
              </a:rPr>
              <a:t>“We will install all your software for you…”</a:t>
            </a:r>
          </a:p>
          <a:p xmlns:a="http://schemas.openxmlformats.org/drawingml/2006/main">
            <a:pPr>
              <a:defRPr sz="2175" b="0">
                <a:solidFill>
                  <a:srgbClr val="AA4537"/>
                </a:solidFill>
                <a:latin typeface="Helvetica Neue"/>
                <a:ea typeface="Helvetica Neue"/>
                <a:cs typeface="Helvetica Neue"/>
              </a:defRPr>
            </a:pPr>
            <a:r>
              <a:rPr sz="2175" b="0">
                <a:solidFill>
                  <a:srgbClr val="AA4537"/>
                </a:solidFill>
                <a:latin typeface="Helvetica Neue"/>
                <a:ea typeface="Helvetica Neue"/>
                <a:cs typeface="Helvetica Neue"/>
              </a:rPr>
              <a:t>“Upload real client files to the shared chat…”</a:t>
            </a:r>
          </a:p>
        </p:txBody>
      </p:sp>
      <p:sp>
        <p:nvSpPr>
          <p:cNvPr id="6" name="">
            <a:extLst xmlns:a="http://schemas.openxmlformats.org/drawingml/2006/main">
              <a:ext uri="{FF2B5EF4-FFF2-40B4-BE49-F238E27FC236}">
                <a16:creationId xmlns:a16="http://schemas.microsoft.com/office/drawing/2014/main" id="{418A0AD4-2CA8-495C-B7A3-B07113C6BE5E}"/>
              </a:ext>
            </a:extLst>
          </p:cNvPr>
          <p:cNvSpPr>
            <a:spLocks xmlns:a="http://schemas.openxmlformats.org/drawingml/2006/main" noGrp="1"/>
          </p:cNvSpPr>
          <p:nvPr/>
        </p:nvSpPr>
        <p:spPr>
          <a:xfrm xmlns:a="http://schemas.openxmlformats.org/drawingml/2006/main">
            <a:off x="704850" y="4429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82024"/>
                </a:solidFill>
                <a:latin typeface="Helvetica Neue"/>
                <a:ea typeface="Helvetica Neue"/>
                <a:cs typeface="Helvetica Neue"/>
              </a:defRPr>
            </a:pPr>
            <a:r>
              <a:rPr sz="2400" b="1">
                <a:solidFill>
                  <a:srgbClr val="182024"/>
                </a:solidFill>
                <a:latin typeface="Helvetica Neue"/>
                <a:ea typeface="Helvetica Neue"/>
                <a:cs typeface="Helvetica Neue"/>
              </a:rPr>
              <a:t>Compare against the supplied facts.</a:t>
            </a:r>
          </a:p>
          <a:p xmlns:a="http://schemas.openxmlformats.org/drawingml/2006/main">
            <a:pPr>
              <a:defRPr sz="2400" b="1">
                <a:solidFill>
                  <a:srgbClr val="182024"/>
                </a:solidFill>
                <a:latin typeface="Helvetica Neue"/>
                <a:ea typeface="Helvetica Neue"/>
                <a:cs typeface="Helvetica Neue"/>
              </a:defRPr>
            </a:pPr>
            <a:r>
              <a:rPr sz="2400" b="1">
                <a:solidFill>
                  <a:srgbClr val="182024"/>
                </a:solidFill>
                <a:latin typeface="Helvetica Neue"/>
                <a:ea typeface="Helvetica Neue"/>
                <a:cs typeface="Helvetica Neue"/>
              </a:rPr>
              <a:t>Record defects, repair the draft, and verify each fix.</a:t>
            </a:r>
          </a:p>
        </p:txBody>
      </p:sp>
      <p:sp>
        <p:nvSpPr>
          <p:cNvPr id="7" name="">
            <a:extLst xmlns:a="http://schemas.openxmlformats.org/drawingml/2006/main">
              <a:ext uri="{FF2B5EF4-FFF2-40B4-BE49-F238E27FC236}">
                <a16:creationId xmlns:a16="http://schemas.microsoft.com/office/drawing/2014/main" id="{18390ED1-A714-4269-8CF6-4AF1577E1E36}"/>
              </a:ext>
            </a:extLst>
          </p:cNvPr>
          <p:cNvSpPr>
            <a:spLocks xmlns:a="http://schemas.openxmlformats.org/drawingml/2006/main" noGrp="1"/>
          </p:cNvSpPr>
          <p:nvPr/>
        </p:nvSpPr>
        <p:spPr>
          <a:xfrm xmlns:a="http://schemas.openxmlformats.org/drawingml/2006/main">
            <a:off x="704850" y="56769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05B62"/>
                </a:solidFill>
                <a:latin typeface="Helvetica Neue"/>
                <a:ea typeface="Helvetica Neue"/>
                <a:cs typeface="Helvetica Neue"/>
              </a:defRPr>
            </a:pPr>
            <a:r>
              <a:rPr sz="2175" b="0">
                <a:solidFill>
                  <a:srgbClr val="505B62"/>
                </a:solidFill>
                <a:latin typeface="Helvetica Neue"/>
                <a:ea typeface="Helvetica Neue"/>
                <a:cs typeface="Helvetica Neue"/>
              </a:rPr>
              <a:t>Your final check: accuracy and tone.</a:t>
            </a:r>
          </a:p>
        </p:txBody>
      </p:sp>
    </p:spTree>
    <p:extLst>
      <p:ext uri="{BB962C8B-B14F-4D97-AF65-F5344CB8AC3E}">
        <p14:creationId xmlns:p14="http://schemas.microsoft.com/office/powerpoint/2010/main" val="16052477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B8BA3D-7A88-46EF-BD5C-238B950BCA3A}"/>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Progress checks and fresh reviews</a:t>
            </a:r>
          </a:p>
        </p:txBody>
      </p:sp>
      <p:sp>
        <p:nvSpPr>
          <p:cNvPr id="2" name="">
            <a:extLst xmlns:a="http://schemas.openxmlformats.org/drawingml/2006/main">
              <a:ext uri="{FF2B5EF4-FFF2-40B4-BE49-F238E27FC236}">
                <a16:creationId xmlns:a16="http://schemas.microsoft.com/office/drawing/2014/main" id="{882F89AB-B6CE-4F2F-A33B-6856E2DF1CB0}"/>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11C8E0C7-7AA7-48D4-9382-B71075B7DAA3}"/>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4E3D12FC-3F70-4153-9359-143D74667C73}"/>
              </a:ext>
            </a:extLst>
          </p:cNvPr>
          <p:cNvSpPr>
            <a:spLocks xmlns:a="http://schemas.openxmlformats.org/drawingml/2006/main" noGrp="1"/>
          </p:cNvSpPr>
          <p:nvPr/>
        </p:nvSpPr>
        <p:spPr>
          <a:xfrm xmlns:a="http://schemas.openxmlformats.org/drawingml/2006/main">
            <a:off x="704850" y="18764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STATUS prompt</a:t>
            </a:r>
          </a:p>
        </p:txBody>
      </p:sp>
      <p:sp>
        <p:nvSpPr>
          <p:cNvPr id="5" name="">
            <a:extLst xmlns:a="http://schemas.openxmlformats.org/drawingml/2006/main">
              <a:ext uri="{FF2B5EF4-FFF2-40B4-BE49-F238E27FC236}">
                <a16:creationId xmlns:a16="http://schemas.microsoft.com/office/drawing/2014/main" id="{947A82DE-E905-47DA-AD04-7E27D5BC728D}"/>
              </a:ext>
            </a:extLst>
          </p:cNvPr>
          <p:cNvSpPr>
            <a:spLocks xmlns:a="http://schemas.openxmlformats.org/drawingml/2006/main" noGrp="1"/>
          </p:cNvSpPr>
          <p:nvPr/>
        </p:nvSpPr>
        <p:spPr>
          <a:xfrm xmlns:a="http://schemas.openxmlformats.org/drawingml/2006/main">
            <a:off x="704850" y="24574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2024"/>
                </a:solidFill>
                <a:latin typeface="Helvetica Neue"/>
                <a:ea typeface="Helvetica Neue"/>
                <a:cs typeface="Helvetica Neue"/>
              </a:defRPr>
            </a:pPr>
            <a:r>
              <a:rPr sz="2250" b="0">
                <a:solidFill>
                  <a:srgbClr val="182024"/>
                </a:solidFill>
                <a:latin typeface="Helvetica Neue"/>
                <a:ea typeface="Helvetica Neue"/>
                <a:cs typeface="Helvetica Neue"/>
              </a:rPr>
              <a:t>Current phase, completed work, tests, blockers, next action.</a:t>
            </a:r>
          </a:p>
          <a:p xmlns:a="http://schemas.openxmlformats.org/drawingml/2006/main">
            <a:pPr>
              <a:defRPr sz="2250" b="0">
                <a:solidFill>
                  <a:srgbClr val="182024"/>
                </a:solidFill>
                <a:latin typeface="Helvetica Neue"/>
                <a:ea typeface="Helvetica Neue"/>
                <a:cs typeface="Helvetica Neue"/>
              </a:defRPr>
            </a:pPr>
            <a:r>
              <a:rPr sz="2250" b="0">
                <a:solidFill>
                  <a:srgbClr val="182024"/>
                </a:solidFill>
                <a:latin typeface="Helvetica Neue"/>
                <a:ea typeface="Helvetica Neue"/>
                <a:cs typeface="Helvetica Neue"/>
              </a:rPr>
              <a:t>The agent preserves progress.</a:t>
            </a:r>
          </a:p>
        </p:txBody>
      </p:sp>
      <p:sp>
        <p:nvSpPr>
          <p:cNvPr id="6" name="">
            <a:extLst xmlns:a="http://schemas.openxmlformats.org/drawingml/2006/main">
              <a:ext uri="{FF2B5EF4-FFF2-40B4-BE49-F238E27FC236}">
                <a16:creationId xmlns:a16="http://schemas.microsoft.com/office/drawing/2014/main" id="{902542CF-899B-4763-AAB8-C14D7820795D}"/>
              </a:ext>
            </a:extLst>
          </p:cNvPr>
          <p:cNvSpPr>
            <a:spLocks xmlns:a="http://schemas.openxmlformats.org/drawingml/2006/main" noGrp="1"/>
          </p:cNvSpPr>
          <p:nvPr/>
        </p:nvSpPr>
        <p:spPr>
          <a:xfrm xmlns:a="http://schemas.openxmlformats.org/drawingml/2006/main">
            <a:off x="704850" y="39814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Optional fresh reviewer</a:t>
            </a:r>
          </a:p>
        </p:txBody>
      </p:sp>
      <p:sp>
        <p:nvSpPr>
          <p:cNvPr id="7" name="">
            <a:extLst xmlns:a="http://schemas.openxmlformats.org/drawingml/2006/main">
              <a:ext uri="{FF2B5EF4-FFF2-40B4-BE49-F238E27FC236}">
                <a16:creationId xmlns:a16="http://schemas.microsoft.com/office/drawing/2014/main" id="{53973D17-9321-4062-8E50-05D84856A08A}"/>
              </a:ext>
            </a:extLst>
          </p:cNvPr>
          <p:cNvSpPr>
            <a:spLocks xmlns:a="http://schemas.openxmlformats.org/drawingml/2006/main" noGrp="1"/>
          </p:cNvSpPr>
          <p:nvPr/>
        </p:nvSpPr>
        <p:spPr>
          <a:xfrm xmlns:a="http://schemas.openxmlformats.org/drawingml/2006/main">
            <a:off x="704850" y="457200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Use an already-working agent in a separate context.</a:t>
            </a:r>
          </a:p>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It checks the frozen draft. The lead makes the repairs.</a:t>
            </a:r>
          </a:p>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Record who actually reviewed and what they saw.</a:t>
            </a:r>
          </a:p>
        </p:txBody>
      </p:sp>
    </p:spTree>
    <p:extLst>
      <p:ext uri="{BB962C8B-B14F-4D97-AF65-F5344CB8AC3E}">
        <p14:creationId xmlns:p14="http://schemas.microsoft.com/office/powerpoint/2010/main" val="17364499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814280-2A66-4FF7-BC79-2D18AAF3B793}"/>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Optional L1: One case through Descrybe</a:t>
            </a:r>
          </a:p>
        </p:txBody>
      </p:sp>
      <p:sp>
        <p:nvSpPr>
          <p:cNvPr id="2" name="">
            <a:extLst xmlns:a="http://schemas.openxmlformats.org/drawingml/2006/main">
              <a:ext uri="{FF2B5EF4-FFF2-40B4-BE49-F238E27FC236}">
                <a16:creationId xmlns:a16="http://schemas.microsoft.com/office/drawing/2014/main" id="{9EB5638F-9F4F-4988-A794-F59B522FF458}"/>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1A36C466-FC53-4D78-B0E1-06E63C457BB8}"/>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1DDBAB72-C66A-4437-8039-2AEDA7C4B692}"/>
              </a:ext>
            </a:extLst>
          </p:cNvPr>
          <p:cNvSpPr>
            <a:spLocks xmlns:a="http://schemas.openxmlformats.org/drawingml/2006/main" noGrp="1"/>
          </p:cNvSpPr>
          <p:nvPr/>
        </p:nvSpPr>
        <p:spPr>
          <a:xfrm xmlns:a="http://schemas.openxmlformats.org/drawingml/2006/main">
            <a:off x="704850" y="181927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Feist Publications v. Rural Telephone Service</a:t>
            </a:r>
          </a:p>
          <a:p xmlns:a="http://schemas.openxmlformats.org/drawingml/2006/main">
            <a:pPr>
              <a:defRPr sz="2550" b="1">
                <a:solidFill>
                  <a:srgbClr val="176D58"/>
                </a:solidFill>
                <a:latin typeface="Helvetica Neue"/>
                <a:ea typeface="Helvetica Neue"/>
                <a:cs typeface="Helvetica Neue"/>
              </a:defRPr>
            </a:pPr>
            <a:r>
              <a:rPr sz="2550" b="1">
                <a:solidFill>
                  <a:srgbClr val="176D58"/>
                </a:solidFill>
                <a:latin typeface="Helvetica Neue"/>
                <a:ea typeface="Helvetica Neue"/>
                <a:cs typeface="Helvetica Neue"/>
              </a:rPr>
              <a:t>499 U.S. 340 (1991)</a:t>
            </a:r>
          </a:p>
        </p:txBody>
      </p:sp>
      <p:sp>
        <p:nvSpPr>
          <p:cNvPr id="5" name="">
            <a:extLst xmlns:a="http://schemas.openxmlformats.org/drawingml/2006/main">
              <a:ext uri="{FF2B5EF4-FFF2-40B4-BE49-F238E27FC236}">
                <a16:creationId xmlns:a16="http://schemas.microsoft.com/office/drawing/2014/main" id="{2442D0A0-11A5-4574-ACA2-37675364B65F}"/>
              </a:ext>
            </a:extLst>
          </p:cNvPr>
          <p:cNvSpPr>
            <a:spLocks xmlns:a="http://schemas.openxmlformats.org/drawingml/2006/main" noGrp="1"/>
          </p:cNvSpPr>
          <p:nvPr/>
        </p:nvSpPr>
        <p:spPr>
          <a:xfrm xmlns:a="http://schemas.openxmlformats.org/drawingml/2006/main">
            <a:off x="704850" y="33242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Confirm identity through a real tool call.</a:t>
            </a:r>
          </a:p>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Inspect a focused source passage.</a:t>
            </a:r>
          </a:p>
          <a:p xmlns:a="http://schemas.openxmlformats.org/drawingml/2006/main">
            <a:pPr>
              <a:defRPr sz="2325" b="0">
                <a:solidFill>
                  <a:srgbClr val="182024"/>
                </a:solidFill>
                <a:latin typeface="Helvetica Neue"/>
                <a:ea typeface="Helvetica Neue"/>
                <a:cs typeface="Helvetica Neue"/>
              </a:defRPr>
            </a:pPr>
            <a:r>
              <a:rPr sz="2325" b="0">
                <a:solidFill>
                  <a:srgbClr val="182024"/>
                </a:solidFill>
                <a:latin typeface="Helvetica Neue"/>
                <a:ea typeface="Helvetica Neue"/>
                <a:cs typeface="Helvetica Neue"/>
              </a:rPr>
              <a:t>Write a short note with a source locator and limitation.</a:t>
            </a:r>
          </a:p>
        </p:txBody>
      </p:sp>
      <p:sp>
        <p:nvSpPr>
          <p:cNvPr id="6" name="">
            <a:extLst xmlns:a="http://schemas.openxmlformats.org/drawingml/2006/main">
              <a:ext uri="{FF2B5EF4-FFF2-40B4-BE49-F238E27FC236}">
                <a16:creationId xmlns:a16="http://schemas.microsoft.com/office/drawing/2014/main" id="{0246E097-B125-45D7-AB7E-785F83A5DC6A}"/>
              </a:ext>
            </a:extLst>
          </p:cNvPr>
          <p:cNvSpPr>
            <a:spLocks xmlns:a="http://schemas.openxmlformats.org/drawingml/2006/main" noGrp="1"/>
          </p:cNvSpPr>
          <p:nvPr/>
        </p:nvSpPr>
        <p:spPr>
          <a:xfrm xmlns:a="http://schemas.openxmlformats.org/drawingml/2006/main">
            <a:off x="704850" y="536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82024"/>
                </a:solidFill>
                <a:latin typeface="Helvetica Neue"/>
                <a:ea typeface="Helvetica Neue"/>
                <a:cs typeface="Helvetica Neue"/>
              </a:defRPr>
            </a:pPr>
            <a:r>
              <a:rPr sz="2250" b="1">
                <a:solidFill>
                  <a:srgbClr val="182024"/>
                </a:solidFill>
                <a:latin typeface="Helvetica Neue"/>
                <a:ea typeface="Helvetica Neue"/>
                <a:cs typeface="Helvetica Neue"/>
              </a:rPr>
              <a:t>Human gate: does the source support the explanation?</a:t>
            </a:r>
          </a:p>
        </p:txBody>
      </p:sp>
    </p:spTree>
    <p:extLst>
      <p:ext uri="{BB962C8B-B14F-4D97-AF65-F5344CB8AC3E}">
        <p14:creationId xmlns:p14="http://schemas.microsoft.com/office/powerpoint/2010/main" val="3591686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8D5120-42EF-440B-9CD6-C5F5E8B6C004}"/>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Optional L2: A quotation check</a:t>
            </a:r>
          </a:p>
        </p:txBody>
      </p:sp>
      <p:sp>
        <p:nvSpPr>
          <p:cNvPr id="2" name="">
            <a:extLst xmlns:a="http://schemas.openxmlformats.org/drawingml/2006/main">
              <a:ext uri="{FF2B5EF4-FFF2-40B4-BE49-F238E27FC236}">
                <a16:creationId xmlns:a16="http://schemas.microsoft.com/office/drawing/2014/main" id="{C693687A-5D78-49E9-9348-F49ECFE88635}"/>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F0DD9A87-C18B-4713-BC57-FA7E1BBABDF4}"/>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C220AD9-2ABA-4AA2-A9F8-0424E245AD79}"/>
              </a:ext>
            </a:extLst>
          </p:cNvPr>
          <p:cNvSpPr>
            <a:spLocks xmlns:a="http://schemas.openxmlformats.org/drawingml/2006/main" noGrp="1"/>
          </p:cNvSpPr>
          <p:nvPr/>
        </p:nvSpPr>
        <p:spPr>
          <a:xfrm xmlns:a="http://schemas.openxmlformats.org/drawingml/2006/main">
            <a:off x="704850" y="2047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Test A</a:t>
            </a:r>
          </a:p>
        </p:txBody>
      </p:sp>
      <p:sp>
        <p:nvSpPr>
          <p:cNvPr id="5" name="">
            <a:extLst xmlns:a="http://schemas.openxmlformats.org/drawingml/2006/main">
              <a:ext uri="{FF2B5EF4-FFF2-40B4-BE49-F238E27FC236}">
                <a16:creationId xmlns:a16="http://schemas.microsoft.com/office/drawing/2014/main" id="{27B8DC9A-1F76-42F8-95E5-551F33609A7F}"/>
              </a:ext>
            </a:extLst>
          </p:cNvPr>
          <p:cNvSpPr>
            <a:spLocks xmlns:a="http://schemas.openxmlformats.org/drawingml/2006/main" noGrp="1"/>
          </p:cNvSpPr>
          <p:nvPr/>
        </p:nvSpPr>
        <p:spPr>
          <a:xfrm xmlns:a="http://schemas.openxmlformats.org/drawingml/2006/main">
            <a:off x="3714750" y="20478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A short quotation checked against the opinion.</a:t>
            </a:r>
          </a:p>
        </p:txBody>
      </p:sp>
      <p:sp>
        <p:nvSpPr>
          <p:cNvPr id="6" name="">
            <a:extLst xmlns:a="http://schemas.openxmlformats.org/drawingml/2006/main">
              <a:ext uri="{FF2B5EF4-FFF2-40B4-BE49-F238E27FC236}">
                <a16:creationId xmlns:a16="http://schemas.microsoft.com/office/drawing/2014/main" id="{350A1C33-CEF3-49F8-B325-C3B212E842CB}"/>
              </a:ext>
            </a:extLst>
          </p:cNvPr>
          <p:cNvSpPr>
            <a:spLocks xmlns:a="http://schemas.openxmlformats.org/drawingml/2006/main" noGrp="1"/>
          </p:cNvSpPr>
          <p:nvPr/>
        </p:nvSpPr>
        <p:spPr>
          <a:xfrm xmlns:a="http://schemas.openxmlformats.org/drawingml/2006/main">
            <a:off x="704850" y="3190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Test B</a:t>
            </a:r>
          </a:p>
        </p:txBody>
      </p:sp>
      <p:sp>
        <p:nvSpPr>
          <p:cNvPr id="7" name="">
            <a:extLst xmlns:a="http://schemas.openxmlformats.org/drawingml/2006/main">
              <a:ext uri="{FF2B5EF4-FFF2-40B4-BE49-F238E27FC236}">
                <a16:creationId xmlns:a16="http://schemas.microsoft.com/office/drawing/2014/main" id="{0B2C39AA-DA66-4081-B5BF-0279A33F5884}"/>
              </a:ext>
            </a:extLst>
          </p:cNvPr>
          <p:cNvSpPr>
            <a:spLocks xmlns:a="http://schemas.openxmlformats.org/drawingml/2006/main" noGrp="1"/>
          </p:cNvSpPr>
          <p:nvPr/>
        </p:nvSpPr>
        <p:spPr>
          <a:xfrm xmlns:a="http://schemas.openxmlformats.org/drawingml/2006/main">
            <a:off x="3714750" y="31908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A clearly labeled version with one material word changed.</a:t>
            </a:r>
          </a:p>
        </p:txBody>
      </p:sp>
      <p:sp>
        <p:nvSpPr>
          <p:cNvPr id="8" name="">
            <a:extLst xmlns:a="http://schemas.openxmlformats.org/drawingml/2006/main">
              <a:ext uri="{FF2B5EF4-FFF2-40B4-BE49-F238E27FC236}">
                <a16:creationId xmlns:a16="http://schemas.microsoft.com/office/drawing/2014/main" id="{B6CAB020-381B-4CE1-AC97-DF6083E8F071}"/>
              </a:ext>
            </a:extLst>
          </p:cNvPr>
          <p:cNvSpPr>
            <a:spLocks xmlns:a="http://schemas.openxmlformats.org/drawingml/2006/main" noGrp="1"/>
          </p:cNvSpPr>
          <p:nvPr/>
        </p:nvSpPr>
        <p:spPr>
          <a:xfrm xmlns:a="http://schemas.openxmlformats.org/drawingml/2006/main">
            <a:off x="704850" y="4333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Actual evidence</a:t>
            </a:r>
          </a:p>
        </p:txBody>
      </p:sp>
      <p:sp>
        <p:nvSpPr>
          <p:cNvPr id="9" name="">
            <a:extLst xmlns:a="http://schemas.openxmlformats.org/drawingml/2006/main">
              <a:ext uri="{FF2B5EF4-FFF2-40B4-BE49-F238E27FC236}">
                <a16:creationId xmlns:a16="http://schemas.microsoft.com/office/drawing/2014/main" id="{39D9373A-7939-420D-9121-BBC78D6049E3}"/>
              </a:ext>
            </a:extLst>
          </p:cNvPr>
          <p:cNvSpPr>
            <a:spLocks xmlns:a="http://schemas.openxmlformats.org/drawingml/2006/main" noGrp="1"/>
          </p:cNvSpPr>
          <p:nvPr/>
        </p:nvSpPr>
        <p:spPr>
          <a:xfrm xmlns:a="http://schemas.openxmlformats.org/drawingml/2006/main">
            <a:off x="3714750" y="43338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Does the tool distinguish match, mismatch, or uncertainty?</a:t>
            </a:r>
          </a:p>
        </p:txBody>
      </p:sp>
      <p:sp>
        <p:nvSpPr>
          <p:cNvPr id="10" name="">
            <a:extLst xmlns:a="http://schemas.openxmlformats.org/drawingml/2006/main">
              <a:ext uri="{FF2B5EF4-FFF2-40B4-BE49-F238E27FC236}">
                <a16:creationId xmlns:a16="http://schemas.microsoft.com/office/drawing/2014/main" id="{F6ECB0AE-A2E8-4A4D-9505-AE48C39E85E6}"/>
              </a:ext>
            </a:extLst>
          </p:cNvPr>
          <p:cNvSpPr>
            <a:spLocks xmlns:a="http://schemas.openxmlformats.org/drawingml/2006/main" noGrp="1"/>
          </p:cNvSpPr>
          <p:nvPr/>
        </p:nvSpPr>
        <p:spPr>
          <a:xfrm xmlns:a="http://schemas.openxmlformats.org/drawingml/2006/main">
            <a:off x="704850" y="55816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AA4537"/>
                </a:solidFill>
                <a:latin typeface="Helvetica Neue"/>
                <a:ea typeface="Helvetica Neue"/>
                <a:cs typeface="Helvetica Neue"/>
              </a:defRPr>
            </a:pPr>
            <a:r>
              <a:rPr sz="2250" b="1">
                <a:solidFill>
                  <a:srgbClr val="AA4537"/>
                </a:solidFill>
                <a:latin typeface="Helvetica Neue"/>
                <a:ea typeface="Helvetica Neue"/>
                <a:cs typeface="Helvetica Neue"/>
              </a:rPr>
              <a:t>A verification failure is useful feedback. Preserve it.</a:t>
            </a:r>
          </a:p>
        </p:txBody>
      </p:sp>
    </p:spTree>
    <p:extLst>
      <p:ext uri="{BB962C8B-B14F-4D97-AF65-F5344CB8AC3E}">
        <p14:creationId xmlns:p14="http://schemas.microsoft.com/office/powerpoint/2010/main" val="16011963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1CC0A7-1D42-40F4-A3B4-02C3CAC894CE}"/>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12:45: Feedback begins</a:t>
            </a:r>
          </a:p>
        </p:txBody>
      </p:sp>
      <p:sp>
        <p:nvSpPr>
          <p:cNvPr id="2" name="">
            <a:extLst xmlns:a="http://schemas.openxmlformats.org/drawingml/2006/main">
              <a:ext uri="{FF2B5EF4-FFF2-40B4-BE49-F238E27FC236}">
                <a16:creationId xmlns:a16="http://schemas.microsoft.com/office/drawing/2014/main" id="{23243EF0-7C47-4E2B-BBBE-D237F7A02105}"/>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E178DFB6-871E-44DA-96A2-E3470C1AB23B}"/>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6DB6AD4-EE14-4E09-841B-14904EF1EC33}"/>
              </a:ext>
            </a:extLst>
          </p:cNvPr>
          <p:cNvSpPr>
            <a:spLocks xmlns:a="http://schemas.openxmlformats.org/drawingml/2006/main" noGrp="1"/>
          </p:cNvSpPr>
          <p:nvPr/>
        </p:nvSpPr>
        <p:spPr>
          <a:xfrm xmlns:a="http://schemas.openxmlformats.org/drawingml/2006/main">
            <a:off x="704850" y="18383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First five minutes</a:t>
            </a:r>
          </a:p>
        </p:txBody>
      </p:sp>
      <p:sp>
        <p:nvSpPr>
          <p:cNvPr id="5" name="">
            <a:extLst xmlns:a="http://schemas.openxmlformats.org/drawingml/2006/main">
              <a:ext uri="{FF2B5EF4-FFF2-40B4-BE49-F238E27FC236}">
                <a16:creationId xmlns:a16="http://schemas.microsoft.com/office/drawing/2014/main" id="{A3C4D689-4E13-4099-BB00-FF7642DB1973}"/>
              </a:ext>
            </a:extLst>
          </p:cNvPr>
          <p:cNvSpPr>
            <a:spLocks xmlns:a="http://schemas.openxmlformats.org/drawingml/2006/main" noGrp="1"/>
          </p:cNvSpPr>
          <p:nvPr/>
        </p:nvSpPr>
        <p:spPr>
          <a:xfrm xmlns:a="http://schemas.openxmlformats.org/drawingml/2006/main">
            <a:off x="3714750" y="183832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Prompt F: agent report from actual files and tool results.</a:t>
            </a:r>
          </a:p>
        </p:txBody>
      </p:sp>
      <p:sp>
        <p:nvSpPr>
          <p:cNvPr id="6" name="">
            <a:extLst xmlns:a="http://schemas.openxmlformats.org/drawingml/2006/main">
              <a:ext uri="{FF2B5EF4-FFF2-40B4-BE49-F238E27FC236}">
                <a16:creationId xmlns:a16="http://schemas.microsoft.com/office/drawing/2014/main" id="{B77A2D07-B151-45A9-884B-CC30C5DBB8AE}"/>
              </a:ext>
            </a:extLst>
          </p:cNvPr>
          <p:cNvSpPr>
            <a:spLocks xmlns:a="http://schemas.openxmlformats.org/drawingml/2006/main" noGrp="1"/>
          </p:cNvSpPr>
          <p:nvPr/>
        </p:nvSpPr>
        <p:spPr>
          <a:xfrm xmlns:a="http://schemas.openxmlformats.org/drawingml/2006/main">
            <a:off x="704850" y="30384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Next five minutes</a:t>
            </a:r>
          </a:p>
        </p:txBody>
      </p:sp>
      <p:sp>
        <p:nvSpPr>
          <p:cNvPr id="7" name="">
            <a:extLst xmlns:a="http://schemas.openxmlformats.org/drawingml/2006/main">
              <a:ext uri="{FF2B5EF4-FFF2-40B4-BE49-F238E27FC236}">
                <a16:creationId xmlns:a16="http://schemas.microsoft.com/office/drawing/2014/main" id="{CAF5B75D-5004-483F-B2C4-964AFA05F1EA}"/>
              </a:ext>
            </a:extLst>
          </p:cNvPr>
          <p:cNvSpPr>
            <a:spLocks xmlns:a="http://schemas.openxmlformats.org/drawingml/2006/main" noGrp="1"/>
          </p:cNvSpPr>
          <p:nvPr/>
        </p:nvSpPr>
        <p:spPr>
          <a:xfrm xmlns:a="http://schemas.openxmlformats.org/drawingml/2006/main">
            <a:off x="3714750" y="303847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Your five questions: outcome, friction, control, confidence, change.</a:t>
            </a:r>
          </a:p>
        </p:txBody>
      </p:sp>
      <p:sp>
        <p:nvSpPr>
          <p:cNvPr id="8" name="">
            <a:extLst xmlns:a="http://schemas.openxmlformats.org/drawingml/2006/main">
              <a:ext uri="{FF2B5EF4-FFF2-40B4-BE49-F238E27FC236}">
                <a16:creationId xmlns:a16="http://schemas.microsoft.com/office/drawing/2014/main" id="{7F06F7FC-7ABE-44AA-9418-FBEFABA475C2}"/>
              </a:ext>
            </a:extLst>
          </p:cNvPr>
          <p:cNvSpPr>
            <a:spLocks xmlns:a="http://schemas.openxmlformats.org/drawingml/2006/main" noGrp="1"/>
          </p:cNvSpPr>
          <p:nvPr/>
        </p:nvSpPr>
        <p:spPr>
          <a:xfrm xmlns:a="http://schemas.openxmlformats.org/drawingml/2006/main">
            <a:off x="704850" y="42386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6D58"/>
                </a:solidFill>
                <a:latin typeface="Helvetica Neue"/>
                <a:ea typeface="Helvetica Neue"/>
                <a:cs typeface="Helvetica Neue"/>
              </a:defRPr>
            </a:pPr>
            <a:r>
              <a:rPr sz="2100" b="1">
                <a:solidFill>
                  <a:srgbClr val="176D58"/>
                </a:solidFill>
                <a:latin typeface="Helvetica Neue"/>
                <a:ea typeface="Helvetica Neue"/>
                <a:cs typeface="Helvetica Neue"/>
              </a:rPr>
              <a:t>Final five minutes</a:t>
            </a:r>
          </a:p>
        </p:txBody>
      </p:sp>
      <p:sp>
        <p:nvSpPr>
          <p:cNvPr id="9" name="">
            <a:extLst xmlns:a="http://schemas.openxmlformats.org/drawingml/2006/main">
              <a:ext uri="{FF2B5EF4-FFF2-40B4-BE49-F238E27FC236}">
                <a16:creationId xmlns:a16="http://schemas.microsoft.com/office/drawing/2014/main" id="{90BF2F71-B038-4634-BAD1-A0982F96BE97}"/>
              </a:ext>
            </a:extLst>
          </p:cNvPr>
          <p:cNvSpPr>
            <a:spLocks xmlns:a="http://schemas.openxmlformats.org/drawingml/2006/main" noGrp="1"/>
          </p:cNvSpPr>
          <p:nvPr/>
        </p:nvSpPr>
        <p:spPr>
          <a:xfrm xmlns:a="http://schemas.openxmlformats.org/drawingml/2006/main">
            <a:off x="3714750" y="4238625"/>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2024"/>
                </a:solidFill>
                <a:latin typeface="Helvetica Neue"/>
                <a:ea typeface="Helvetica Neue"/>
                <a:cs typeface="Helvetica Neue"/>
              </a:defRPr>
            </a:pPr>
            <a:r>
              <a:rPr sz="2100" b="0">
                <a:solidFill>
                  <a:srgbClr val="182024"/>
                </a:solidFill>
                <a:latin typeface="Helvetica Neue"/>
                <a:ea typeface="Helvetica Neue"/>
                <a:cs typeface="Helvetica Neue"/>
              </a:rPr>
              <a:t>Review, redact, and share only what you approve.</a:t>
            </a:r>
          </a:p>
        </p:txBody>
      </p:sp>
      <p:sp>
        <p:nvSpPr>
          <p:cNvPr id="10" name="">
            <a:extLst xmlns:a="http://schemas.openxmlformats.org/drawingml/2006/main">
              <a:ext uri="{FF2B5EF4-FFF2-40B4-BE49-F238E27FC236}">
                <a16:creationId xmlns:a16="http://schemas.microsoft.com/office/drawing/2014/main" id="{4513D1F8-3004-47A6-A8F9-66E8EF2322A2}"/>
              </a:ext>
            </a:extLst>
          </p:cNvPr>
          <p:cNvSpPr>
            <a:spLocks xmlns:a="http://schemas.openxmlformats.org/drawingml/2006/main" noGrp="1"/>
          </p:cNvSpPr>
          <p:nvPr/>
        </p:nvSpPr>
        <p:spPr>
          <a:xfrm xmlns:a="http://schemas.openxmlformats.org/drawingml/2006/main">
            <a:off x="704850" y="561022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AA4537"/>
                </a:solidFill>
                <a:latin typeface="Helvetica Neue"/>
                <a:ea typeface="Helvetica Neue"/>
                <a:cs typeface="Helvetica Neue"/>
              </a:defRPr>
            </a:pPr>
            <a:r>
              <a:rPr sz="2100" b="1">
                <a:solidFill>
                  <a:srgbClr val="AA4537"/>
                </a:solidFill>
                <a:latin typeface="Helvetica Neue"/>
                <a:ea typeface="Helvetica Neue"/>
                <a:cs typeface="Helvetica Neue"/>
              </a:rPr>
              <a:t>Unknown is a valid result. Full transcripts and credentials stay private.</a:t>
            </a:r>
          </a:p>
        </p:txBody>
      </p:sp>
    </p:spTree>
    <p:extLst>
      <p:ext uri="{BB962C8B-B14F-4D97-AF65-F5344CB8AC3E}">
        <p14:creationId xmlns:p14="http://schemas.microsoft.com/office/powerpoint/2010/main" val="20124519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2EC802-7292-4B54-80BB-F517193875FD}"/>
              </a:ext>
            </a:extLst>
          </p:cNvPr>
          <p:cNvSpPr>
            <a:spLocks xmlns:a="http://schemas.openxmlformats.org/drawingml/2006/main" noGrp="1"/>
          </p:cNvSpPr>
          <p:nvPr/>
        </p:nvSpPr>
        <p:spPr>
          <a:xfrm xmlns:a="http://schemas.openxmlformats.org/drawingml/2006/main">
            <a:off x="666750" y="53340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82024"/>
                </a:solidFill>
                <a:latin typeface="Helvetica Neue"/>
                <a:ea typeface="Helvetica Neue"/>
                <a:cs typeface="Helvetica Neue"/>
              </a:defRPr>
            </a:pPr>
            <a:r>
              <a:rPr sz="3525" b="1">
                <a:solidFill>
                  <a:srgbClr val="182024"/>
                </a:solidFill>
                <a:latin typeface="Helvetica Neue"/>
                <a:ea typeface="Helvetica Neue"/>
                <a:cs typeface="Helvetica Neue"/>
              </a:rPr>
              <a:t>What we take into September 16</a:t>
            </a:r>
          </a:p>
        </p:txBody>
      </p:sp>
      <p:sp>
        <p:nvSpPr>
          <p:cNvPr id="2" name="">
            <a:extLst xmlns:a="http://schemas.openxmlformats.org/drawingml/2006/main">
              <a:ext uri="{FF2B5EF4-FFF2-40B4-BE49-F238E27FC236}">
                <a16:creationId xmlns:a16="http://schemas.microsoft.com/office/drawing/2014/main" id="{EBCA28DE-F5B4-4818-9D49-4B49C834CA42}"/>
              </a:ext>
            </a:extLst>
          </p:cNvPr>
          <p:cNvSpPr>
            <a:spLocks xmlns:a="http://schemas.openxmlformats.org/drawingml/2006/main" noGrp="1"/>
          </p:cNvSpPr>
          <p:nvPr/>
        </p:nvSpPr>
        <p:spPr>
          <a:xfrm xmlns:a="http://schemas.openxmlformats.org/drawingml/2006/main">
            <a:off x="666750" y="6324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HOPE Test 02</a:t>
            </a:r>
          </a:p>
        </p:txBody>
      </p:sp>
      <p:sp>
        <p:nvSpPr>
          <p:cNvPr id="3" name="">
            <a:extLst xmlns:a="http://schemas.openxmlformats.org/drawingml/2006/main">
              <a:ext uri="{FF2B5EF4-FFF2-40B4-BE49-F238E27FC236}">
                <a16:creationId xmlns:a16="http://schemas.microsoft.com/office/drawing/2014/main" id="{07E194BA-6078-465F-A953-6863ED516F95}"/>
              </a:ext>
            </a:extLst>
          </p:cNvPr>
          <p:cNvSpPr>
            <a:spLocks xmlns:a="http://schemas.openxmlformats.org/drawingml/2006/main" noGrp="1"/>
          </p:cNvSpPr>
          <p:nvPr/>
        </p:nvSpPr>
        <p:spPr>
          <a:xfrm xmlns:a="http://schemas.openxmlformats.org/drawingml/2006/main">
            <a:off x="11049000" y="63246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05B62"/>
                </a:solidFill>
                <a:latin typeface="Helvetica Neue"/>
                <a:ea typeface="Helvetica Neue"/>
                <a:cs typeface="Helvetica Neue"/>
              </a:defRPr>
            </a:pPr>
            <a:r>
              <a:rPr sz="1425" b="0">
                <a:solidFill>
                  <a:srgbClr val="505B62"/>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E2A3D2B-7B70-4C80-828D-26991CED10BB}"/>
              </a:ext>
            </a:extLst>
          </p:cNvPr>
          <p:cNvSpPr>
            <a:spLocks xmlns:a="http://schemas.openxmlformats.org/drawingml/2006/main" noGrp="1"/>
          </p:cNvSpPr>
          <p:nvPr/>
        </p:nvSpPr>
        <p:spPr>
          <a:xfrm xmlns:a="http://schemas.openxmlformats.org/drawingml/2006/main">
            <a:off x="704850" y="1933575"/>
            <a:ext cx="105727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1">
                <a:solidFill>
                  <a:srgbClr val="176D58"/>
                </a:solidFill>
                <a:latin typeface="Helvetica Neue"/>
                <a:ea typeface="Helvetica Neue"/>
                <a:cs typeface="Helvetica Neue"/>
              </a:defRPr>
            </a:pPr>
            <a:r>
              <a:rPr sz="2925" b="1">
                <a:solidFill>
                  <a:srgbClr val="176D58"/>
                </a:solidFill>
                <a:latin typeface="Helvetica Neue"/>
                <a:ea typeface="Helvetica Neue"/>
                <a:cs typeface="Helvetica Neue"/>
              </a:rPr>
              <a:t>One useful output</a:t>
            </a:r>
          </a:p>
          <a:p xmlns:a="http://schemas.openxmlformats.org/drawingml/2006/main">
            <a:pPr>
              <a:defRPr sz="2925" b="1">
                <a:solidFill>
                  <a:srgbClr val="176D58"/>
                </a:solidFill>
                <a:latin typeface="Helvetica Neue"/>
                <a:ea typeface="Helvetica Neue"/>
                <a:cs typeface="Helvetica Neue"/>
              </a:defRPr>
            </a:pPr>
            <a:r>
              <a:rPr sz="2925" b="1">
                <a:solidFill>
                  <a:srgbClr val="176D58"/>
                </a:solidFill>
                <a:latin typeface="Helvetica Neue"/>
                <a:ea typeface="Helvetica Neue"/>
                <a:cs typeface="Helvetica Neue"/>
              </a:rPr>
              <a:t>One failure we can reproduce</a:t>
            </a:r>
          </a:p>
          <a:p xmlns:a="http://schemas.openxmlformats.org/drawingml/2006/main">
            <a:pPr>
              <a:defRPr sz="2925" b="1">
                <a:solidFill>
                  <a:srgbClr val="176D58"/>
                </a:solidFill>
                <a:latin typeface="Helvetica Neue"/>
                <a:ea typeface="Helvetica Neue"/>
                <a:cs typeface="Helvetica Neue"/>
              </a:defRPr>
            </a:pPr>
            <a:r>
              <a:rPr sz="2925" b="1">
                <a:solidFill>
                  <a:srgbClr val="176D58"/>
                </a:solidFill>
                <a:latin typeface="Helvetica Neue"/>
                <a:ea typeface="Helvetica Neue"/>
                <a:cs typeface="Helvetica Neue"/>
              </a:rPr>
              <a:t>One improvement worth making</a:t>
            </a:r>
          </a:p>
        </p:txBody>
      </p:sp>
      <p:sp>
        <p:nvSpPr>
          <p:cNvPr id="5" name="">
            <a:extLst xmlns:a="http://schemas.openxmlformats.org/drawingml/2006/main">
              <a:ext uri="{FF2B5EF4-FFF2-40B4-BE49-F238E27FC236}">
                <a16:creationId xmlns:a16="http://schemas.microsoft.com/office/drawing/2014/main" id="{43BD5C6D-CA30-4ED6-B4C0-81E57F05D32C}"/>
              </a:ext>
            </a:extLst>
          </p:cNvPr>
          <p:cNvSpPr>
            <a:spLocks xmlns:a="http://schemas.openxmlformats.org/drawingml/2006/main" noGrp="1"/>
          </p:cNvSpPr>
          <p:nvPr/>
        </p:nvSpPr>
        <p:spPr>
          <a:xfrm xmlns:a="http://schemas.openxmlformats.org/drawingml/2006/main">
            <a:off x="704850" y="4562475"/>
            <a:ext cx="10572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Keep the sprint and evidence for your own use.</a:t>
            </a:r>
          </a:p>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Share your approved feedback file.</a:t>
            </a:r>
          </a:p>
          <a:p xmlns:a="http://schemas.openxmlformats.org/drawingml/2006/main">
            <a:pPr>
              <a:defRPr sz="2175" b="0">
                <a:solidFill>
                  <a:srgbClr val="182024"/>
                </a:solidFill>
                <a:latin typeface="Helvetica Neue"/>
                <a:ea typeface="Helvetica Neue"/>
                <a:cs typeface="Helvetica Neue"/>
              </a:defRPr>
            </a:pPr>
            <a:r>
              <a:rPr sz="2175" b="0">
                <a:solidFill>
                  <a:srgbClr val="182024"/>
                </a:solidFill>
                <a:latin typeface="Helvetica Neue"/>
                <a:ea typeface="Helvetica Neue"/>
                <a:cs typeface="Helvetica Neue"/>
              </a:rPr>
              <a:t>Longer projects are the next extension.</a:t>
            </a:r>
          </a:p>
        </p:txBody>
      </p:sp>
    </p:spTree>
    <p:extLst>
      <p:ext uri="{BB962C8B-B14F-4D97-AF65-F5344CB8AC3E}">
        <p14:creationId xmlns:p14="http://schemas.microsoft.com/office/powerpoint/2010/main" val="475810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2026-09-04T10:55:25.7080000Z</dcterms:created>
  <dcterms:modified xsi:type="dcterms:W3CDTF">2026-09-04T10:55:25.7080000Z</dcterms:modified>
</coreProperties>
</file>